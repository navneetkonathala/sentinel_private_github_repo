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3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4944" y="457200"/>
            <a:ext cx="4937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A9C5BA"/>
                </a:solidFill>
                <a:latin typeface="Cascadia Code"/>
              </a:rPr>
              <a:t>UTKRISHTA 2026  /  AI·ML HACKATHON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94944" y="786384"/>
            <a:ext cx="10780776" cy="0"/>
          </a:xfrm>
          <a:prstGeom prst="line">
            <a:avLst/>
          </a:prstGeom>
          <a:ln w="10160">
            <a:solidFill>
              <a:srgbClr val="365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/>
          <p:nvPr/>
        </p:nvSpPr>
        <p:spPr>
          <a:xfrm>
            <a:off x="713232" y="1207008"/>
            <a:ext cx="1353312" cy="265176"/>
          </a:xfrm>
          <a:prstGeom prst="roundRect">
            <a:avLst>
              <a:gd name="adj" fmla="val 6000"/>
            </a:avLst>
          </a:prstGeom>
          <a:solidFill>
            <a:srgbClr val="27453E"/>
          </a:solidFill>
          <a:ln>
            <a:solidFill>
              <a:srgbClr val="2745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57300"/>
            <a:ext cx="12252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83D7B8"/>
                </a:solidFill>
                <a:latin typeface="Cascadia Code"/>
              </a:rPr>
              <a:t>CHALLENGE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773936"/>
            <a:ext cx="5486400" cy="758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ptos Display"/>
              </a:rPr>
              <a:t>Sentinel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724912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0" i="0">
                <a:solidFill>
                  <a:srgbClr val="B8D0C5"/>
                </a:solidFill>
                <a:latin typeface="Aptos Display"/>
              </a:rPr>
              <a:t>Learn the usual.
Explain the unusual.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4050791"/>
            <a:ext cx="521208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A8BAB1"/>
                </a:solidFill>
                <a:latin typeface="Aptos"/>
              </a:rPr>
              <a:t>A lightweight, streaming anomaly detector using a permitted
sliding-window adaptive threshold.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5148072"/>
            <a:ext cx="3886200" cy="667512"/>
          </a:xfrm>
          <a:prstGeom prst="roundRect">
            <a:avLst>
              <a:gd name="adj" fmla="val 6000"/>
            </a:avLst>
          </a:prstGeom>
          <a:solidFill>
            <a:srgbClr val="223B36"/>
          </a:solidFill>
          <a:ln>
            <a:solidFill>
              <a:srgbClr val="3854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330952"/>
            <a:ext cx="3566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C5D8CE"/>
                </a:solidFill>
                <a:latin typeface="Cascadia Code"/>
              </a:rPr>
              <a:t>TEAM NAME: 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6053328"/>
            <a:ext cx="6675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A8BAB1"/>
                </a:solidFill>
                <a:latin typeface="Cascadia Code"/>
              </a:rPr>
              <a:t>TEAM MEMBERS: __________________________________________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3720" y="1965960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03720" y="2633472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03720" y="3300984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03720" y="3968496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03720" y="4636008"/>
            <a:ext cx="4069080" cy="0"/>
          </a:xfrm>
          <a:prstGeom prst="line">
            <a:avLst/>
          </a:prstGeom>
          <a:ln w="7620">
            <a:solidFill>
              <a:srgbClr val="2E48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03720" y="3273552"/>
            <a:ext cx="4069080" cy="0"/>
          </a:xfrm>
          <a:prstGeom prst="line">
            <a:avLst/>
          </a:prstGeom>
          <a:ln w="15240">
            <a:solidFill>
              <a:srgbClr val="799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903720" y="2606039"/>
            <a:ext cx="4069080" cy="0"/>
          </a:xfrm>
          <a:prstGeom prst="line">
            <a:avLst/>
          </a:prstGeom>
          <a:ln w="10160">
            <a:solidFill>
              <a:srgbClr val="456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03720" y="3941064"/>
            <a:ext cx="4069080" cy="0"/>
          </a:xfrm>
          <a:prstGeom prst="line">
            <a:avLst/>
          </a:prstGeom>
          <a:ln w="10160">
            <a:solidFill>
              <a:srgbClr val="4563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903720" y="3227832"/>
            <a:ext cx="203454" cy="54864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07174" y="3227832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310628" y="3191256"/>
            <a:ext cx="203453" cy="12801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14081" y="3191256"/>
            <a:ext cx="203455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7717536" y="3154679"/>
            <a:ext cx="203454" cy="109729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920990" y="3154679"/>
            <a:ext cx="203454" cy="73153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124444" y="3227832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27898" y="3209544"/>
            <a:ext cx="203454" cy="109728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531352" y="3209544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734806" y="3172968"/>
            <a:ext cx="203454" cy="12801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38260" y="3172968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141714" y="3209544"/>
            <a:ext cx="203454" cy="3657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45168" y="3209544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548622" y="3191256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752076" y="3191256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955530" y="3227832"/>
            <a:ext cx="203454" cy="36576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10158984" y="2587752"/>
            <a:ext cx="203454" cy="64008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362438" y="2587752"/>
            <a:ext cx="203454" cy="658368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10565892" y="3172968"/>
            <a:ext cx="203454" cy="73152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69346" y="3172968"/>
            <a:ext cx="203454" cy="91440"/>
          </a:xfrm>
          <a:prstGeom prst="line">
            <a:avLst/>
          </a:prstGeom>
          <a:ln w="25400">
            <a:solidFill>
              <a:srgbClr val="55D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10293858" y="2519172"/>
            <a:ext cx="137160" cy="137160"/>
          </a:xfrm>
          <a:prstGeom prst="ellipse">
            <a:avLst/>
          </a:prstGeom>
          <a:solidFill>
            <a:srgbClr val="D9794E"/>
          </a:solidFill>
          <a:ln>
            <a:solidFill>
              <a:srgbClr val="D979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31152" y="4901184"/>
            <a:ext cx="429768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A8C5B8"/>
                </a:solidFill>
                <a:latin typeface="Cascadia Code"/>
              </a:rPr>
              <a:t>SIMULATED SIGNAL  ·  ONE FLAGGED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547104"/>
            <a:ext cx="7772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82958C"/>
                </a:solidFill>
                <a:latin typeface="Cascadia Code"/>
              </a:rPr>
              <a:t>PRESENTATION DRAFT  ·  REPLACE TEAM DETAILS BEFORE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PROBLEM UNDERSTANDING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What does Challenge 2 ask us to solve?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Watch measurements arrive in time order, learn what is usual, and explain readings or periods that differ significantly.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1965960"/>
            <a:ext cx="66294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2688" y="2194560"/>
            <a:ext cx="91440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" y="2244852"/>
            <a:ext cx="7863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THE INPUT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262432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2B2A"/>
                </a:solidFill>
                <a:latin typeface="Aptos Display"/>
              </a:rPr>
              <a:t>A time series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054096"/>
            <a:ext cx="237744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Ordered readings, each with a time and numeric value.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01568" y="2816352"/>
            <a:ext cx="502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2624328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2B2A"/>
                </a:solidFill>
                <a:latin typeface="Aptos Display"/>
              </a:rPr>
              <a:t>An anomaly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05656" y="3054096"/>
            <a:ext cx="25603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A point or time window far from the learned normal pattern.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1965960"/>
            <a:ext cx="3931920" cy="1965960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18120" y="2240280"/>
            <a:ext cx="320040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9BC4B6"/>
                </a:solidFill>
                <a:latin typeface="Cascadia Code"/>
              </a:rPr>
              <a:t>EACH FLAG NEEDS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45552" y="268833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10144" y="262432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Anomaly score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5552" y="305409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10144" y="299008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NORMAL / ANOMALOUS label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45552" y="341985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10144" y="3355848"/>
            <a:ext cx="30358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ptos"/>
              </a:rPr>
              <a:t>Evidence a person can interpret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2976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2B2A"/>
                </a:solidFill>
                <a:latin typeface="Aptos Display"/>
              </a:rPr>
              <a:t>Why it matters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INDUSTRY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Spot unusual machine or process readings.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F6F0D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628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Notice a sudden jump in latency or memory.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65008" y="4736592"/>
            <a:ext cx="3401568" cy="960120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0456" y="4901184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SENSORS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5175504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Find faulty measurements without alerting on every wiggle.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961888"/>
            <a:ext cx="10698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Sentinel's current project is a prototype; no real company feed is connected.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DATASET &amp; PREPARATION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The benchmark is a labeled timeline—not random demo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brief names a prepared Numenta Anomaly Benchmark (NAB) subset with hidden test windows.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38528"/>
            <a:ext cx="475488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194560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ILLUSTRATIVE ROW SHAPE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TIMESTAMP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8608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587752"/>
            <a:ext cx="11887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LABEL*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0120" y="317296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87552" y="292608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10:00:01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292608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40.1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292608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normal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" y="358444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87552" y="333756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10:00:02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96896" y="333756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41.2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23360" y="333756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normal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60120" y="399592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87552" y="374904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10:00:03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96896" y="374904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39.8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374904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normal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60120" y="440740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87552" y="416052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10:00:04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96896" y="416052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58.0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416052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D9794E"/>
                </a:solidFill>
                <a:latin typeface="Cascadia Code"/>
              </a:rPr>
              <a:t>event window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60120" y="4818888"/>
            <a:ext cx="4206240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987552" y="4572000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10:00:05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96896" y="4572000"/>
            <a:ext cx="731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172B2A"/>
                </a:solidFill>
                <a:latin typeface="Cascadia Code"/>
              </a:rPr>
              <a:t>40.5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23360" y="4572000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normal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102352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1">
                <a:solidFill>
                  <a:srgbClr val="718079"/>
                </a:solidFill>
                <a:latin typeface="Aptos"/>
              </a:rPr>
              <a:t>*Example only. Labels refer to organizer-supplied anomaly windows; no NAB file is in this workspace.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89320" y="2084831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2B2A"/>
                </a:solidFill>
                <a:latin typeface="Aptos Display"/>
              </a:rPr>
              <a:t>Preparation workflow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16752" y="2670048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2720340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47688" y="2697479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LOAD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99248" y="26700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Read timestamp, value, event label.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016752" y="3374136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3424428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47688" y="3401568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CHECK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99248" y="3374136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Inspect gaps, duplicates, units, ordering.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4078224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128515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47688" y="4105656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STREAM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99248" y="4078224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Feed past and current values only.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16752" y="4782312"/>
            <a:ext cx="438912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080760" y="4832604"/>
            <a:ext cx="310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47688" y="4809744"/>
            <a:ext cx="10058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68A75"/>
                </a:solidFill>
                <a:latin typeface="Cascadia Code"/>
              </a:rPr>
              <a:t>SCORE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99248" y="478231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Compare alerts with labeled windows.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98464" y="5577840"/>
            <a:ext cx="5212080" cy="384048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5687568"/>
            <a:ext cx="4846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NEXT REQUIRED INPUT: organizer's NAB subset + schema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SYSTEM DESIGN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From one reading to an explained 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Python detector is the reference algorithm; the browser runs a separate synthetic demo using matching settings.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timestamp
+ numeric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4203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864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04495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WINDOW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4495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51 recent
clean readings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28523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4924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median/MAD
robust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259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920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52551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551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NORMAL or
ANOMALOUS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2871216"/>
            <a:ext cx="31089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68A75"/>
                </a:solidFill>
                <a:latin typeface="Aptos Display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19488" y="2331720"/>
            <a:ext cx="18288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765792" y="2496312"/>
            <a:ext cx="411480" cy="265176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2546604"/>
            <a:ext cx="283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68A75"/>
                </a:solidFill>
                <a:latin typeface="Cascadia Code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65792" y="285292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EXPLAIN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65792" y="318211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72B2A"/>
                </a:solidFill>
                <a:latin typeface="Aptos Display"/>
              </a:rPr>
              <a:t>limits, score,
direction, reason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4343400"/>
            <a:ext cx="5257800" cy="1024128"/>
          </a:xfrm>
          <a:prstGeom prst="roundRect">
            <a:avLst>
              <a:gd name="adj" fmla="val 6000"/>
            </a:avLst>
          </a:prstGeom>
          <a:solidFill>
            <a:srgbClr val="E6F2ED"/>
          </a:solidFill>
          <a:ln>
            <a:solidFill>
              <a:srgbClr val="D5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1832" y="455371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PYTHON REFERENCE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1832" y="4864608"/>
            <a:ext cx="4617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72B2A"/>
                </a:solidFill>
                <a:latin typeface="Cascadia Code"/>
              </a:rPr>
              <a:t>sentinel.py  →  Sentinel.update(value)  →  result dictionary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9632" y="4343400"/>
            <a:ext cx="5257800" cy="1024128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4553712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BROWSER DEMO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28232" y="4864608"/>
            <a:ext cx="4663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scadia Code"/>
              </a:rPr>
              <a:t>app.js  →  generated signal  →  chart + event log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715000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D9794E"/>
                </a:solidFill>
                <a:latin typeface="Aptos"/>
              </a:rPr>
              <a:t>The website does not ingest NAB or call the Python class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CORE ALGORITHM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A permitted sliding-window adaptive threshold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brief explicitly permits sliding-window adaptive thresholds. Sentinel uses median + MAD for a robust, interpretable limit.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65960"/>
            <a:ext cx="4754880" cy="3246120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267712"/>
            <a:ext cx="31089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ROBUST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88336"/>
            <a:ext cx="425196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Cascadia Code"/>
              </a:rPr>
              <a:t>center = median(window)
MAD = median(|x − center|)
spread = max(1.4826 × MAD, ε)
score = (new − center) / spread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315968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2C089"/>
                </a:solidFill>
                <a:latin typeface="Cascadia Code"/>
              </a:rPr>
              <a:t>Flag if |score| &gt; 3.5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2148840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CURRENT 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578608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Window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578608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51 accepted readings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898648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145536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Warm-up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145536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12 readings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35040" y="3465576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53328" y="3712463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Threshold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712463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3.5 robust-score units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5040" y="4032503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53328" y="4279392"/>
            <a:ext cx="1417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Update rule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4279392"/>
            <a:ext cx="3383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718079"/>
                </a:solidFill>
                <a:latin typeface="Aptos"/>
              </a:rPr>
              <a:t>Do not learn from flagged points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35040" y="4599431"/>
            <a:ext cx="5065776" cy="0"/>
          </a:xfrm>
          <a:prstGeom prst="line">
            <a:avLst/>
          </a:prstGeom>
          <a:ln w="762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016752" y="5010912"/>
            <a:ext cx="5084064" cy="475488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0488" y="5175504"/>
            <a:ext cx="4754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WHY THIS FITS: low compute · adapts online · explains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5833872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D9794E"/>
                </a:solidFill>
                <a:latin typeface="Aptos"/>
              </a:rPr>
              <a:t>Fit-based choice, not an evidence-backed winner: NAB comparison is still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TUNING PLAN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Honest experiment log: no NAB runs have been completed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browser spike is an interaction demo, not a benchmark run. We will not present it as predictive performance.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56816"/>
            <a:ext cx="6903720" cy="3547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240280"/>
            <a:ext cx="2194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CANDIDATE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224028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SETTING TO 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2240280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2551176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50976" y="2660904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Rolling z-score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660904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mean/std; 51-point 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9904" y="266090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41832" y="3136392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50976" y="3246120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Sentinel robust threshold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7328" y="3246120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median/MAD; 51, cutoff 3.5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9904" y="3246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Aptos"/>
              </a:rPr>
              <a:t>Current prototype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1832" y="3721608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50976" y="3831336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Threshold sweep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3831336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3.0 / 3.5 / 4.0 on 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383133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" y="4306824"/>
            <a:ext cx="6391656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50976" y="4416552"/>
            <a:ext cx="26517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Window sweep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4416552"/>
            <a:ext cx="2148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i="0">
                <a:solidFill>
                  <a:srgbClr val="718079"/>
                </a:solidFill>
                <a:latin typeface="Aptos"/>
              </a:rPr>
              <a:t>25 / 51 / 101 clean points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44165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Aptos"/>
              </a:rPr>
              <a:t>Planned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18704" y="1956816"/>
            <a:ext cx="3547872" cy="3547872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02168" y="226771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NEXT STEPS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11312" y="2788920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75904" y="2724912"/>
            <a:ext cx="268833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Obtain the prepared NAB subset.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11312" y="3465576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75904" y="3401568"/>
            <a:ext cx="2688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Keep time order; tune on validation only.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2" y="4224528"/>
            <a:ext cx="64008" cy="64008"/>
          </a:xfrm>
          <a:prstGeom prst="roundRect">
            <a:avLst>
              <a:gd name="adj" fmla="val 6000"/>
            </a:avLst>
          </a:prstGeom>
          <a:solidFill>
            <a:srgbClr val="47C5A0"/>
          </a:solidFill>
          <a:ln>
            <a:solidFill>
              <a:srgbClr val="47C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75904" y="4160520"/>
            <a:ext cx="2688336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Log settings, runtime, and every result.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983480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2C089"/>
                </a:solidFill>
                <a:latin typeface="Aptos"/>
              </a:rPr>
              <a:t>Do not tune on hidden test windows.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797296"/>
            <a:ext cx="10515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Challenge 2 has no 15-run cap in the supplied brief; that limit belongs to Challenge 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EVALUATION METHODOLOGY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Measure events, delay, and cost—not just a dramatic spike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brief names event-based F1 as primary, with precision, recall, detection delay, and inference runtime.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07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029968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2212848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PRECISION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Of alerts, how many match real events?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2889504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TP / (TP + FP)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6208" y="2029968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DF1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37376" y="2212848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RECALL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2505456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Of real events, how many are detected?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889504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TP / (TP + FN)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566160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EAF0EC"/>
          </a:solidFill>
          <a:ln>
            <a:solidFill>
              <a:srgbClr val="EAF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74904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EVENT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0416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Balance precision and recall across windows.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425696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2PR / (P + 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6208" y="3566160"/>
            <a:ext cx="5166360" cy="1261872"/>
          </a:xfrm>
          <a:prstGeom prst="roundRect">
            <a:avLst>
              <a:gd name="adj" fmla="val 6000"/>
            </a:avLst>
          </a:prstGeom>
          <a:solidFill>
            <a:srgbClr val="F6F0DF"/>
          </a:solidFill>
          <a:ln>
            <a:solidFill>
              <a:srgbClr val="F6F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3749040"/>
            <a:ext cx="4389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DETECTION DELAY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4041648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72B2A"/>
                </a:solidFill>
                <a:latin typeface="Aptos Display"/>
              </a:rPr>
              <a:t>Time from event onset to first alert.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425696"/>
            <a:ext cx="44805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Cascadia Code"/>
              </a:rPr>
              <a:t>alert time − onset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8" y="5321808"/>
            <a:ext cx="10652760" cy="512064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504688"/>
            <a:ext cx="914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RUNTIME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477256"/>
            <a:ext cx="8869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Report per-sample inference time on the same hardware and input windows.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6044184"/>
            <a:ext cx="10515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Choose event-matching rules before evaluation and preserve chronological splits.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RESULTS &amp; COMPARISON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Results are pending the official NAB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No hidden-test or NAB validation scores have been produced in this workspace. The table is intentionally not filled with demo numbers.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1956816"/>
            <a:ext cx="6629400" cy="34930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67712"/>
            <a:ext cx="2240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EVENT F1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65192" y="2267712"/>
            <a:ext cx="10972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81344" y="2267712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STATUS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264" y="2651760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87552" y="2761488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Rolling mean/std z-score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76148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192" y="27614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1344" y="27614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Cascadia Code"/>
              </a:rPr>
              <a:t>Not run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3337560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87552" y="3447288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Sentinel: median + MAD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44728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65192" y="34472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1344" y="3447288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Prototype only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9264" y="4023359"/>
            <a:ext cx="6199632" cy="0"/>
          </a:xfrm>
          <a:prstGeom prst="line">
            <a:avLst/>
          </a:prstGeom>
          <a:ln w="7620">
            <a:solidFill>
              <a:srgbClr val="EDF0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87552" y="4133087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Aptos"/>
              </a:rPr>
              <a:t>Isolation Forest / LOF*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133087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65192" y="413308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72B2A"/>
                </a:solidFill>
                <a:latin typeface="Cascadia Code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4133087"/>
            <a:ext cx="914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72B2A"/>
                </a:solidFill>
                <a:latin typeface="Cascadia Code"/>
              </a:rPr>
              <a:t>Optional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5010912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718079"/>
                </a:solidFill>
                <a:latin typeface="Aptos"/>
              </a:rPr>
              <a:t>*Run only if the chosen NAB subset and runtime budget make them appropriate.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8392" y="1956816"/>
            <a:ext cx="3685032" cy="3493008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01000" y="2286000"/>
            <a:ext cx="3017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8ED6BC"/>
                </a:solidFill>
                <a:latin typeface="Cascadia Code"/>
              </a:rPr>
              <a:t>WHAT WE CAN SHOW TODAY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743200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 Display"/>
              </a:rPr>
              <a:t>A synthetic reading is flagged and the UI explains why.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712463"/>
            <a:ext cx="2880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8C9C0"/>
                </a:solidFill>
                <a:latin typeface="Aptos"/>
              </a:rPr>
              <a:t>This demonstrates interaction and evidence formatting—not accuracy on real events.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01000" y="4800600"/>
            <a:ext cx="2148840" cy="265176"/>
          </a:xfrm>
          <a:prstGeom prst="roundRect">
            <a:avLst>
              <a:gd name="adj" fmla="val 6000"/>
            </a:avLst>
          </a:prstGeom>
          <a:solidFill>
            <a:srgbClr val="3A332B"/>
          </a:solidFill>
          <a:ln>
            <a:solidFill>
              <a:srgbClr val="3A3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4850892"/>
            <a:ext cx="2020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2C089"/>
                </a:solidFill>
                <a:latin typeface="Cascadia Code"/>
              </a:rPr>
              <a:t>NO PERFORMANCE CLAIMS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5806440"/>
            <a:ext cx="10515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D9794E"/>
                </a:solidFill>
                <a:latin typeface="Aptos"/>
              </a:rPr>
              <a:t>Before submission: populate this slide from reproducible validation and organizer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DEMO &amp; ANOMALY EVIDENCE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A live demo with honest data labels and role-based access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website currently generates synthetic values. No company database, server packets, or live sensor stream is connected.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938528"/>
            <a:ext cx="5806440" cy="3611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DE2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185416"/>
            <a:ext cx="4480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SENTINEL  /  SAMPLE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172B2A"/>
                </a:solidFill>
                <a:latin typeface="Aptos Display"/>
              </a:rPr>
              <a:t>58.0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99232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718079"/>
                </a:solidFill>
                <a:latin typeface="Aptos"/>
              </a:rPr>
              <a:t>observed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67919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Baseline 40.55   ·   Expected range 38.21–42.89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32304" y="3154680"/>
            <a:ext cx="3520440" cy="39319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78608" y="3282696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HIGH ANOMALY  ·  +15.1 ABOVE UPPER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767328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68A75"/>
                </a:solidFill>
                <a:latin typeface="Cascadia Code"/>
              </a:rPr>
              <a:t>Robust score: +26.16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041648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718079"/>
                </a:solidFill>
                <a:latin typeface="Aptos"/>
              </a:rPr>
              <a:t>Illustrative output from the built-in example; not a NAB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03720" y="2066543"/>
            <a:ext cx="4251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HOW PEOPLE USE THE SITE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2450592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DDF1E9"/>
          </a:solidFill>
          <a:ln>
            <a:solidFill>
              <a:srgbClr val="D4E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23176" y="2660904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PRESENTER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23176" y="2953512"/>
            <a:ext cx="391363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72B2A"/>
                </a:solidFill>
                <a:latin typeface="Aptos"/>
              </a:rPr>
              <a:t>Sign in → add presenters → open member access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03720" y="3730752"/>
            <a:ext cx="4480560" cy="1051560"/>
          </a:xfrm>
          <a:prstGeom prst="roundRect">
            <a:avLst>
              <a:gd name="adj" fmla="val 6000"/>
            </a:avLst>
          </a:prstGeom>
          <a:solidFill>
            <a:srgbClr val="EAF0EC"/>
          </a:solidFill>
          <a:ln>
            <a:solidFill>
              <a:srgbClr val="D9E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3176" y="3941063"/>
            <a:ext cx="1645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INSTITUTE MEMBER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3176" y="4224528"/>
            <a:ext cx="3931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72B2A"/>
                </a:solidFill>
                <a:latin typeface="Aptos"/>
              </a:rPr>
              <a:t>Register @iiits.in → sign in → use demo controls after access opens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5001768"/>
            <a:ext cx="4389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 i="1">
                <a:solidFill>
                  <a:srgbClr val="D9794E"/>
                </a:solidFill>
                <a:latin typeface="Aptos"/>
              </a:rPr>
              <a:t>The email domain is checked; mailbox ownership is not verified.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521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718079"/>
                </a:solidFill>
                <a:latin typeface="Aptos"/>
              </a:rPr>
              <a:t>Demo controls: inject anomaly · simulate drift · pause · reset. Members see them only after the presenter opens access.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4389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718079"/>
                </a:solidFill>
                <a:latin typeface="Cascadia Code"/>
              </a:rPr>
              <a:t>SENTINEL  /  UTKRISHTA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0" y="274320"/>
            <a:ext cx="3200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168A75"/>
                </a:solidFill>
                <a:latin typeface="Cascadia Code"/>
              </a:rPr>
              <a:t>RUN, LIMITATIONS &amp; NEXT STEPS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5669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58368" y="804672"/>
            <a:ext cx="108813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72B2A"/>
                </a:solidFill>
                <a:latin typeface="Aptos Display"/>
              </a:rPr>
              <a:t>Run the program locally—and know what it does not 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898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18079"/>
                </a:solidFill>
                <a:latin typeface="Aptos"/>
              </a:rPr>
              <a:t>The Python server protects dashboard routes; do not use a static file server for authenticated access.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510528"/>
            <a:ext cx="11045952" cy="0"/>
          </a:xfrm>
          <a:prstGeom prst="line">
            <a:avLst/>
          </a:prstGeom>
          <a:ln w="8890">
            <a:solidFill>
              <a:srgbClr val="DDE2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58368" y="6601968"/>
            <a:ext cx="749807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CHALLENGE 02 · ADAPTIVE TIME-SERIES ANOMALY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00" b="0" i="0">
                <a:solidFill>
                  <a:srgbClr val="718079"/>
                </a:solidFill>
                <a:latin typeface="Cascadia Code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938528"/>
            <a:ext cx="5074920" cy="3621024"/>
          </a:xfrm>
          <a:prstGeom prst="roundRect">
            <a:avLst>
              <a:gd name="adj" fmla="val 6000"/>
            </a:avLst>
          </a:prstGeom>
          <a:solidFill>
            <a:srgbClr val="172B2A"/>
          </a:solidFill>
          <a:ln>
            <a:solidFill>
              <a:srgbClr val="172B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221992"/>
            <a:ext cx="2743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8ED6BC"/>
                </a:solidFill>
                <a:latin typeface="Cascadia Code"/>
              </a:rPr>
              <a:t>LOCAL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651760"/>
            <a:ext cx="438912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Cascadia Code"/>
              </a:rPr>
              <a:t>1  python3 auth_server.py
2  open http://127.0.0.1:8001
Sign in with the presenter
credentials in AUTH_SETUP.md
Detector only: python3 sentinel.py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42976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8C9C0"/>
                </a:solidFill>
                <a:latin typeface="Aptos"/>
              </a:rPr>
              <a:t>Python 3.9+ · runtime uses the standard library · SQLite DB is created on first server start.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176272"/>
            <a:ext cx="3931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168A75"/>
                </a:solidFill>
                <a:latin typeface="Cascadia Code"/>
              </a:rPr>
              <a:t>NEXT 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670048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606040"/>
            <a:ext cx="44988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Load and inspect the organizer's NAB subset.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291839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3227832"/>
            <a:ext cx="4498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Evaluate event-F1, precision, recall, delay, runtime.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50208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886200"/>
            <a:ext cx="44988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Connect a real timestamped stream; validate units and gaps.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654296"/>
            <a:ext cx="64008" cy="64008"/>
          </a:xfrm>
          <a:prstGeom prst="roundRect">
            <a:avLst>
              <a:gd name="adj" fmla="val 6000"/>
            </a:avLst>
          </a:prstGeom>
          <a:solidFill>
            <a:srgbClr val="168A75"/>
          </a:solidFill>
          <a:ln>
            <a:solidFill>
              <a:srgbClr val="168A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4590288"/>
            <a:ext cx="44988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72B2A"/>
                </a:solidFill>
                <a:latin typeface="Aptos"/>
              </a:rPr>
              <a:t>Replace the demo password and deploy behind HTTPS.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9632" y="5330952"/>
            <a:ext cx="5065776" cy="393192"/>
          </a:xfrm>
          <a:prstGeom prst="roundRect">
            <a:avLst>
              <a:gd name="adj" fmla="val 6000"/>
            </a:avLst>
          </a:prstGeom>
          <a:solidFill>
            <a:srgbClr val="F9E9E0"/>
          </a:solidFill>
          <a:ln>
            <a:solidFill>
              <a:srgbClr val="F9E9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4224" y="5449824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9794E"/>
                </a:solidFill>
                <a:latin typeface="Cascadia Code"/>
              </a:rPr>
              <a:t>LIMIT: Python detector and JS demo are separate implementations.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" y="5943600"/>
            <a:ext cx="10332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718079"/>
                </a:solidFill>
                <a:latin typeface="Aptos"/>
              </a:rPr>
              <a:t>Team: fill in team details on slide 1; use only measured results in any final claims.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Utkrishta 2026 Challenge 2</dc:title>
  <dc:subject>10-slide adaptive time-series anomaly detection project presentation</dc:subject>
  <dc:creator>Utkrishta 2026 participant team</dc:creator>
  <cp:keywords>Sentinel, time series, anomaly detection, NAB, sliding-window adaptive threshold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