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102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457200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9C5BA"/>
                </a:solidFill>
                <a:latin typeface="Cascadia Code"/>
              </a:rPr>
              <a:t>UTKRISHTA 2026  /  AI·ML HACKATHON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94944" y="786384"/>
            <a:ext cx="10780776" cy="0"/>
          </a:xfrm>
          <a:prstGeom prst="line">
            <a:avLst/>
          </a:prstGeom>
          <a:ln w="10160">
            <a:solidFill>
              <a:srgbClr val="365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713232" y="1207008"/>
            <a:ext cx="1353312" cy="265176"/>
          </a:xfrm>
          <a:prstGeom prst="roundRect">
            <a:avLst>
              <a:gd name="adj" fmla="val 6000"/>
            </a:avLst>
          </a:prstGeom>
          <a:solidFill>
            <a:srgbClr val="27453E"/>
          </a:solidFill>
          <a:ln>
            <a:solidFill>
              <a:srgbClr val="274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5730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83D7B8"/>
                </a:solidFill>
                <a:latin typeface="Cascadia Code"/>
              </a:rPr>
              <a:t>CHALLENGE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773936"/>
            <a:ext cx="5486400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ptos Display"/>
              </a:rPr>
              <a:t>Sentinel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724912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0" i="0">
                <a:solidFill>
                  <a:srgbClr val="B8D0C5"/>
                </a:solidFill>
                <a:latin typeface="Aptos Display"/>
              </a:rPr>
              <a:t>Learn the usual.
Explain the unusual.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050791"/>
            <a:ext cx="521208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A8BAB1"/>
                </a:solidFill>
                <a:latin typeface="Aptos"/>
              </a:rPr>
              <a:t>A lightweight anomaly detector using a permitted
unsupervised Isolation Forest.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148072"/>
            <a:ext cx="3886200" cy="667512"/>
          </a:xfrm>
          <a:prstGeom prst="roundRect">
            <a:avLst>
              <a:gd name="adj" fmla="val 6000"/>
            </a:avLst>
          </a:prstGeom>
          <a:solidFill>
            <a:srgbClr val="223B36"/>
          </a:solidFill>
          <a:ln>
            <a:solidFill>
              <a:srgbClr val="385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330952"/>
            <a:ext cx="3566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C5D8CE"/>
                </a:solidFill>
                <a:latin typeface="Cascadia Code"/>
              </a:rPr>
              <a:t>TEAM NAME: 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6053328"/>
            <a:ext cx="6675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A8BAB1"/>
                </a:solidFill>
                <a:latin typeface="Cascadia Code"/>
              </a:rPr>
              <a:t>TEAM MEMBERS: __________________________________________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03720" y="1965960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03720" y="2633472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03720" y="3300984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03720" y="3968496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03720" y="4636008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03720" y="3273552"/>
            <a:ext cx="4069080" cy="0"/>
          </a:xfrm>
          <a:prstGeom prst="line">
            <a:avLst/>
          </a:prstGeom>
          <a:ln w="15240">
            <a:solidFill>
              <a:srgbClr val="799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03720" y="2606039"/>
            <a:ext cx="4069080" cy="0"/>
          </a:xfrm>
          <a:prstGeom prst="line">
            <a:avLst/>
          </a:prstGeom>
          <a:ln w="10160">
            <a:solidFill>
              <a:srgbClr val="456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03720" y="3941064"/>
            <a:ext cx="4069080" cy="0"/>
          </a:xfrm>
          <a:prstGeom prst="line">
            <a:avLst/>
          </a:prstGeom>
          <a:ln w="10160">
            <a:solidFill>
              <a:srgbClr val="456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903720" y="3227832"/>
            <a:ext cx="203454" cy="54864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07174" y="3227832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310628" y="3191256"/>
            <a:ext cx="203453" cy="128016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14081" y="3191256"/>
            <a:ext cx="203455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717536" y="3154679"/>
            <a:ext cx="203454" cy="109729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920990" y="3154679"/>
            <a:ext cx="203454" cy="73153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124444" y="3227832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327898" y="3209544"/>
            <a:ext cx="203454" cy="109728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31352" y="3209544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734806" y="3172968"/>
            <a:ext cx="203454" cy="128016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938260" y="3172968"/>
            <a:ext cx="203454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141714" y="3209544"/>
            <a:ext cx="203454" cy="36576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345168" y="3209544"/>
            <a:ext cx="203454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548622" y="3191256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52076" y="3191256"/>
            <a:ext cx="203454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955530" y="3227832"/>
            <a:ext cx="203454" cy="36576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158984" y="2587752"/>
            <a:ext cx="203454" cy="64008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362438" y="2587752"/>
            <a:ext cx="203454" cy="658368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0565892" y="3172968"/>
            <a:ext cx="203454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769346" y="3172968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10293858" y="2519172"/>
            <a:ext cx="137160" cy="137160"/>
          </a:xfrm>
          <a:prstGeom prst="ellipse">
            <a:avLst/>
          </a:prstGeom>
          <a:solidFill>
            <a:srgbClr val="D9794E"/>
          </a:solidFill>
          <a:ln>
            <a:solidFill>
              <a:srgbClr val="D97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31152" y="4901184"/>
            <a:ext cx="42976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A8C5B8"/>
                </a:solidFill>
                <a:latin typeface="Cascadia Code"/>
              </a:rPr>
              <a:t>ISOLATION FOREST CONCEPT  ·  ILLUSTRATION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6547104"/>
            <a:ext cx="7772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82958C"/>
                </a:solidFill>
                <a:latin typeface="Cascadia Code"/>
              </a:rPr>
              <a:t>PRESENTATION DRAFT  ·  REPLACE TEAM DETAILS BEFORE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PROBLEM UNDERSTANDING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What does Challenge 2 ask us to solve?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Watch measurements arrive in time order, learn what is usual, and explain readings or periods that differ significantly.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965960"/>
            <a:ext cx="66294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2194560"/>
            <a:ext cx="91440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244852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THE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624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2B2A"/>
                </a:solidFill>
                <a:latin typeface="Aptos Display"/>
              </a:rPr>
              <a:t>A time series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05409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Ordered readings, each with a time and numeric value.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281635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262432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2B2A"/>
                </a:solidFill>
                <a:latin typeface="Aptos Display"/>
              </a:rPr>
              <a:t>An anomaly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3054096"/>
            <a:ext cx="25603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A point or time window far from the learned normal pattern.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1965960"/>
            <a:ext cx="3931920" cy="1965960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2240280"/>
            <a:ext cx="32004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BC4B6"/>
                </a:solidFill>
                <a:latin typeface="Cascadia Code"/>
              </a:rPr>
              <a:t>EACH FLAG NEEDS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5552" y="2688336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0144" y="2624328"/>
            <a:ext cx="30358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Anomaly score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3054096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0144" y="2990088"/>
            <a:ext cx="30358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NORMAL / ANOMALOUS label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45552" y="3419856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3355848"/>
            <a:ext cx="30358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Evidence a person can interpret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2976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2B2A"/>
                </a:solidFill>
                <a:latin typeface="Aptos Display"/>
              </a:rPr>
              <a:t>Why it matters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4736592"/>
            <a:ext cx="3401568" cy="960120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901184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INDUSTRY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" y="5175504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Spot unusual machine or process readings.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07408" y="4736592"/>
            <a:ext cx="3401568" cy="960120"/>
          </a:xfrm>
          <a:prstGeom prst="roundRect">
            <a:avLst>
              <a:gd name="adj" fmla="val 6000"/>
            </a:avLst>
          </a:prstGeom>
          <a:solidFill>
            <a:srgbClr val="F6F0D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62856" y="4901184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5175504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Notice a sudden jump in latency or memory.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5008" y="4736592"/>
            <a:ext cx="3401568" cy="960120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0456" y="4901184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SENSORS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5175504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Find faulty measurements without alerting on every wiggle.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6188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718079"/>
                </a:solidFill>
                <a:latin typeface="Aptos"/>
              </a:rPr>
              <a:t>Sentinel's current project is a prototype; no real company feed is connected.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DATASET &amp; PREPARATION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The website now uses real public NAB data—not generated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challenge subset has hidden test windows; this workspace contains a public NAB example.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03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938528"/>
            <a:ext cx="475488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94560"/>
            <a:ext cx="4114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PUBLIC NAB: OFFICE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8775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TIMESTAMP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58775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58775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LABEL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0120" y="317296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87552" y="292608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Jul 04 00:00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292608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69.88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292608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" y="358444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87552" y="333756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Jul 04 01:00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6896" y="333756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71.22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33756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—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60120" y="399592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87552" y="374904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Jul 04 02:00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96896" y="374904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70.88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74904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—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60120" y="440740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87552" y="416052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Jul 04 03:00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96896" y="416052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68.96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4160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D9794E"/>
                </a:solidFill>
                <a:latin typeface="Cascadia Code"/>
              </a:rPr>
              <a:t>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60120" y="481888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87552" y="457200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Jul 04 04:00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96896" y="457200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69.28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457200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10235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718079"/>
                </a:solidFill>
                <a:latin typeface="Aptos"/>
              </a:rPr>
              <a:t>Public rows shown; NAB anomaly labels are separate time windows.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2084831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2B2A"/>
                </a:solidFill>
                <a:latin typeface="Aptos Display"/>
              </a:rPr>
              <a:t>Preparation 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16752" y="2670048"/>
            <a:ext cx="438912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720340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2697479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99248" y="26700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Read timestamp + temperature.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16752" y="3374136"/>
            <a:ext cx="438912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3424428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47688" y="3401568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CHECK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3374136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Check ordering, gaps, and units.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16752" y="4078224"/>
            <a:ext cx="438912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128515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47688" y="4105656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STREAM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99248" y="4078224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Train Isolation Forest on clean patterns.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16752" y="4782312"/>
            <a:ext cx="438912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0760" y="4832604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47688" y="480974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SCORE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99248" y="478231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Compare alerts with labeled windows.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98464" y="5577840"/>
            <a:ext cx="5212080" cy="384048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F9E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5687568"/>
            <a:ext cx="484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PUBLIC NAB LOADED; CHALLENGE SUBSET STILL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SYSTEM DESIGN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From one NAB reading to an explained event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website server and sentinel.py both use the shared Isolation Forest to train and score readings.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NAB +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timestamp
+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871216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864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4495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value, change,
local deviation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2312" y="2871216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3892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8523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924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FOREST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40 random
isolation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2592" y="2871216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7920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2551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551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NORMAL or
ANOMALOUS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2871216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948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76579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EXPLAIN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score, truth,
review result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4343400"/>
            <a:ext cx="5257800" cy="1024128"/>
          </a:xfrm>
          <a:prstGeom prst="roundRect">
            <a:avLst>
              <a:gd name="adj" fmla="val 6000"/>
            </a:avLst>
          </a:prstGeom>
          <a:solidFill>
            <a:srgbClr val="E6F2ED"/>
          </a:solidFill>
          <a:ln>
            <a:solidFill>
              <a:srgbClr val="D5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" y="4553712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TRAINING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4864608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72B2A"/>
                </a:solidFill>
                <a:latin typeface="Cascadia Code"/>
              </a:rPr>
              <a:t>Clean NAB + user readings confirmed normal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9632" y="4343400"/>
            <a:ext cx="5257800" cy="1024128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4553712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ED6BC"/>
                </a:solidFill>
                <a:latin typeface="Cascadia Code"/>
              </a:rPr>
              <a:t>PYTHON SERVER → WEB DASHBOARD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28232" y="4864608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scadia Code"/>
              </a:rPr>
              <a:t>train + score  →  SQLite inputs  →  chart + evidence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5715000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D9794E"/>
                </a:solidFill>
                <a:latin typeface="Aptos"/>
              </a:rPr>
              <a:t>The model excludes labeled windows and user-confirmed anomalies from training.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CORE ALGORITHM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A permitted Isolation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brief permits Isolation Forests. Random splits isolate unusual points and assign each point an anomaly score.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05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965960"/>
            <a:ext cx="4754880" cy="3246120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267712"/>
            <a:ext cx="31089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8ED6BC"/>
                </a:solidFill>
                <a:latin typeface="Cascadia Code"/>
              </a:rPr>
              <a:t>WHY ANOMALIES ISOLATE QUICKLY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88336"/>
            <a:ext cx="42519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scadia Code"/>
              </a:rPr>
              <a:t>Randomly choose a feature and split value.
Repeat through many small trees.
Typical points take more splits to isolate.
Unusual points separate in fewer splits.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315968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C089"/>
                </a:solidFill>
                <a:latin typeface="Cascadia Code"/>
              </a:rPr>
              <a:t>Fewer splits → higher anomaly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214884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CURRENT 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578608"/>
            <a:ext cx="1417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Trees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578608"/>
            <a:ext cx="3383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40 randomized trees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35040" y="2898648"/>
            <a:ext cx="5065776" cy="0"/>
          </a:xfrm>
          <a:prstGeom prst="line">
            <a:avLst/>
          </a:prstGeom>
          <a:ln w="762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145536"/>
            <a:ext cx="1417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Tree sample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145536"/>
            <a:ext cx="3383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Up to 128 rows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3465576"/>
            <a:ext cx="5065776" cy="0"/>
          </a:xfrm>
          <a:prstGeom prst="line">
            <a:avLst/>
          </a:prstGeom>
          <a:ln w="762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53328" y="3712463"/>
            <a:ext cx="1417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712463"/>
            <a:ext cx="3383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Value, delta, local deviation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5040" y="4032503"/>
            <a:ext cx="5065776" cy="0"/>
          </a:xfrm>
          <a:prstGeom prst="line">
            <a:avLst/>
          </a:prstGeom>
          <a:ln w="762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53328" y="4279392"/>
            <a:ext cx="1417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Training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279392"/>
            <a:ext cx="3383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Clean NAB + reviewed normal inputs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35040" y="4599431"/>
            <a:ext cx="5065776" cy="0"/>
          </a:xfrm>
          <a:prstGeom prst="line">
            <a:avLst/>
          </a:prstGeom>
          <a:ln w="762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016752" y="5010912"/>
            <a:ext cx="5084064" cy="475488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0488" y="5175504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LABELS OUT OF TRAINING: anomaly windows held aside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5833872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D9794E"/>
                </a:solidFill>
                <a:latin typeface="Aptos"/>
              </a:rPr>
              <a:t>The website and standalone sentinel.py share this dependency-free Isolation Forest.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TUNING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Public NAB replay runs in the website; hidden-subset evaluation is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dashboard computes metrics on public NAB data. Organizer subset data is not present here.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956816"/>
            <a:ext cx="6903720" cy="3547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CANDIDATE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224028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SETTING TO 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9904" y="2240280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STATUS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2551176"/>
            <a:ext cx="6391656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0976" y="2660904"/>
            <a:ext cx="2651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Rolling z-score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2660904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718079"/>
                </a:solidFill>
                <a:latin typeface="Aptos"/>
              </a:rPr>
              <a:t>mean/std; 51-point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66090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Aptos"/>
              </a:rPr>
              <a:t>Planned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1832" y="3136392"/>
            <a:ext cx="6391656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50976" y="3246120"/>
            <a:ext cx="2651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Sentinel Isolation Forest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3246120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718079"/>
                </a:solidFill>
                <a:latin typeface="Aptos"/>
              </a:rPr>
              <a:t>40 trees; 128 sample; 2% cutoff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9904" y="3246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Aptos"/>
              </a:rPr>
              <a:t>Dashboard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1832" y="3721608"/>
            <a:ext cx="6391656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50976" y="3831336"/>
            <a:ext cx="2651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Tree/feature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3831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718079"/>
                </a:solidFill>
                <a:latin typeface="Aptos"/>
              </a:rPr>
              <a:t>Feature sets and tree 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8313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Aptos"/>
              </a:rPr>
              <a:t>Planned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832" y="4306824"/>
            <a:ext cx="6391656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0976" y="4416552"/>
            <a:ext cx="2651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Contamination sweep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67328" y="4416552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718079"/>
                </a:solidFill>
                <a:latin typeface="Aptos"/>
              </a:rPr>
              <a:t>1% / 2% / 3% on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9904" y="44165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Aptos"/>
              </a:rPr>
              <a:t>Planned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18704" y="1956816"/>
            <a:ext cx="3547872" cy="3547872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02168" y="226771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8ED6BC"/>
                </a:solidFill>
                <a:latin typeface="Cascadia Code"/>
              </a:rPr>
              <a:t>NEXT STEPS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11312" y="2788920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75904" y="2724912"/>
            <a:ext cx="26883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Load the organizer subset + window labels.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11312" y="3465576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75904" y="340156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Keep time order; tune on validation only.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2" y="4224528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5904" y="4160520"/>
            <a:ext cx="26883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Record public and challenge scores separately.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4983480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2C089"/>
                </a:solidFill>
                <a:latin typeface="Aptos"/>
              </a:rPr>
              <a:t>Never tune on hidden test windows.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797296"/>
            <a:ext cx="10515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718079"/>
                </a:solidFill>
                <a:latin typeface="Aptos"/>
              </a:rPr>
              <a:t>Challenge 2 has no 15-run cap in the supplied brief; that limit belongs to Challenge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EVALUATION METHODOLOGY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Measure events, delay, and cost—not just a dramatic spike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brief names event-based F1 as primary, with precision, recall, detection delay, and inference runtime.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07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029968"/>
            <a:ext cx="5166360" cy="1261872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F9E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212848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50545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2B2A"/>
                </a:solidFill>
                <a:latin typeface="Aptos Display"/>
              </a:rPr>
              <a:t>Of alerts, how many match real events?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889504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Cascadia Code"/>
              </a:rPr>
              <a:t>TP / (TP + FP)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2029968"/>
            <a:ext cx="5166360" cy="1261872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212848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RECALL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50545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2B2A"/>
                </a:solidFill>
                <a:latin typeface="Aptos Display"/>
              </a:rPr>
              <a:t>Of real events, how many are detected?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889504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Cascadia Code"/>
              </a:rPr>
              <a:t>TP / (TP + FN)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566160"/>
            <a:ext cx="5166360" cy="1261872"/>
          </a:xfrm>
          <a:prstGeom prst="roundRect">
            <a:avLst>
              <a:gd name="adj" fmla="val 6000"/>
            </a:avLst>
          </a:prstGeom>
          <a:solidFill>
            <a:srgbClr val="EAF0EC"/>
          </a:solidFill>
          <a:ln>
            <a:solidFill>
              <a:srgbClr val="EAF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749040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EVENT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0416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2B2A"/>
                </a:solidFill>
                <a:latin typeface="Aptos Display"/>
              </a:rPr>
              <a:t>Balance precision and recall across windows.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25696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Cascadia Code"/>
              </a:rPr>
              <a:t>2PR / (P + 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566160"/>
            <a:ext cx="5166360" cy="1261872"/>
          </a:xfrm>
          <a:prstGeom prst="roundRect">
            <a:avLst>
              <a:gd name="adj" fmla="val 6000"/>
            </a:avLst>
          </a:prstGeom>
          <a:solidFill>
            <a:srgbClr val="F6F0DF"/>
          </a:solidFill>
          <a:ln>
            <a:solidFill>
              <a:srgbClr val="F6F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3749040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DETECTION DELAY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40416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2B2A"/>
                </a:solidFill>
                <a:latin typeface="Aptos Display"/>
              </a:rPr>
              <a:t>Time from event onset to first alert.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425696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Cascadia Code"/>
              </a:rPr>
              <a:t>alert time − onset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5321808"/>
            <a:ext cx="10652760" cy="512064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504688"/>
            <a:ext cx="914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ED6BC"/>
                </a:solidFill>
                <a:latin typeface="Cascadia Code"/>
              </a:rPr>
              <a:t>RUNTIME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477256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Report per-sample inference time on the same hardware and input windows.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6044184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718079"/>
                </a:solidFill>
                <a:latin typeface="Aptos"/>
              </a:rPr>
              <a:t>Choose event-matching rules before evaluation and preserve chronological splits.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RESULTS &amp; COMPARISON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The dashboard scores the public NAB example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site calculates event metrics on public NAB data. Organizer hidden-subset scores are not available yet.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08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56816"/>
            <a:ext cx="6629400" cy="3493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26771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67712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EVENT 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226771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26771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STATUS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264" y="2651760"/>
            <a:ext cx="6199632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87552" y="2761488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Aptos"/>
              </a:rPr>
              <a:t>Rolling mean/std z-score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76148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192" y="27614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276148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Cascadia Code"/>
              </a:rPr>
              <a:t>Not run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3337560"/>
            <a:ext cx="6199632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7552" y="3447288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Aptos"/>
              </a:rPr>
              <a:t>Sentinel: Isolation Forest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44728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34472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344728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Public NAB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9264" y="4023359"/>
            <a:ext cx="6199632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87552" y="4133087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Aptos"/>
              </a:rPr>
              <a:t>Organizer hidden subset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133087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65192" y="4133087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4133087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Cascadia Code"/>
              </a:rPr>
              <a:t>Not loaded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5010912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718079"/>
                </a:solidFill>
                <a:latin typeface="Aptos"/>
              </a:rPr>
              <a:t>Scores depend on the loaded dataset; public-example results are not hidden-test results.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8392" y="1956816"/>
            <a:ext cx="3685032" cy="3493008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2286000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ED6BC"/>
                </a:solidFill>
                <a:latin typeface="Cascadia Code"/>
              </a:rPr>
              <a:t>LIVE SITE 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743200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Precision, recall, event F1, delay, and runtime.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712463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8C9C0"/>
                </a:solidFill>
                <a:latin typeface="Aptos"/>
              </a:rPr>
              <a:t>Read measured values from the loaded dashboard. No numbers are invented in this deck.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01000" y="4800600"/>
            <a:ext cx="2148840" cy="265176"/>
          </a:xfrm>
          <a:prstGeom prst="roundRect">
            <a:avLst>
              <a:gd name="adj" fmla="val 6000"/>
            </a:avLst>
          </a:prstGeom>
          <a:solidFill>
            <a:srgbClr val="3A332B"/>
          </a:solidFill>
          <a:ln>
            <a:solidFill>
              <a:srgbClr val="3A3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4850892"/>
            <a:ext cx="2020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2C089"/>
                </a:solidFill>
                <a:latin typeface="Cascadia Code"/>
              </a:rPr>
              <a:t>PUBLIC EXAMPLE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580644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D9794E"/>
                </a:solidFill>
                <a:latin typeface="Aptos"/>
              </a:rPr>
              <a:t>Copy dashboard values here before presenting; label them as public NAB example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DEMO &amp; ANOMALY EVIDENCE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Replay a public NAB series and inspect anomaly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public example is real office temperature, not the organizer subset or a live company feed.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938528"/>
            <a:ext cx="580644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6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NAB  /  LABELED TEMPERATURE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72B2A"/>
                </a:solidFill>
                <a:latin typeface="Aptos Display"/>
              </a:rPr>
              <a:t>2 windows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9923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718079"/>
                </a:solidFill>
                <a:latin typeface="Aptos"/>
              </a:rPr>
              <a:t>published ground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67919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Dec 15–30, 2013 · Mar 29–Apr 20, 2014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3154680"/>
            <a:ext cx="3520440" cy="393192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F9E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328269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KNOWN PERIODS · NAB LABELS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76732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68A75"/>
                </a:solidFill>
                <a:latin typeface="Cascadia Code"/>
              </a:rPr>
              <a:t>The table lists every flagged point and every missed point inside labeled windows.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4164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718079"/>
                </a:solidFill>
                <a:latin typeface="Aptos"/>
              </a:rPr>
              <a:t>The labels are evaluation truth, not a claim that every point is detected.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066543"/>
            <a:ext cx="4251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HOW PEOPLE USE THE 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2450592"/>
            <a:ext cx="4480560" cy="1051560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4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23176" y="2660904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PRESENTER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3176" y="2953512"/>
            <a:ext cx="391363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Sign in → add presenters → open member 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3720" y="3730752"/>
            <a:ext cx="4480560" cy="1051560"/>
          </a:xfrm>
          <a:prstGeom prst="roundRect">
            <a:avLst>
              <a:gd name="adj" fmla="val 6000"/>
            </a:avLst>
          </a:prstGeom>
          <a:solidFill>
            <a:srgbClr val="EAF0EC"/>
          </a:solidFill>
          <a:ln>
            <a:solidFill>
              <a:srgbClr val="D9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23176" y="3941063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INSTITUTE MEMBER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3176" y="4224528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Register @iiits.in → sign in after access opens → explore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5001768"/>
            <a:ext cx="4389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D9794E"/>
                </a:solidFill>
                <a:latin typeface="Aptos"/>
              </a:rPr>
              <a:t>The email domain is checked; mailbox ownership is not verified.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521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Aptos"/>
              </a:rPr>
              <a:t>Confirm normal/anomaly; after saving and model refresh, the review popup closes automatically.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RUN, LIMITATIONS &amp; NEXT STEPS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Run the program locally—and know what it does not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Python server protects dashboard routes; do not use a static file server for authenticated access.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938528"/>
            <a:ext cx="5074920" cy="3621024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22199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8ED6BC"/>
                </a:solidFill>
                <a:latin typeface="Cascadia Code"/>
              </a:rPr>
              <a:t>LOCAL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51760"/>
            <a:ext cx="438912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scadia Code"/>
              </a:rPr>
              <a:t>1  python3 auth_server.py
2  open http://127.0.0.1:8001
Sign in with the presenter
credentials in AUTH_SETUP.md
Standalone Isolation Forest: python3 sentinel.py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4297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B8C9C0"/>
                </a:solidFill>
                <a:latin typeface="Aptos"/>
              </a:rPr>
              <a:t>Python 3.9+ · runtime uses the standard library · SQLite DB is created on first server start.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176272"/>
            <a:ext cx="3931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NEXT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670048"/>
            <a:ext cx="64008" cy="64008"/>
          </a:xfrm>
          <a:prstGeom prst="roundRect">
            <a:avLst>
              <a:gd name="adj" fmla="val 6000"/>
            </a:avLst>
          </a:prstGeom>
          <a:solidFill>
            <a:srgbClr val="168A75"/>
          </a:solidFill>
          <a:ln>
            <a:solidFill>
              <a:srgbClr val="168A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606040"/>
            <a:ext cx="44988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Public NAB example loads online; organizer subset still needed.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291839"/>
            <a:ext cx="64008" cy="64008"/>
          </a:xfrm>
          <a:prstGeom prst="roundRect">
            <a:avLst>
              <a:gd name="adj" fmla="val 6000"/>
            </a:avLst>
          </a:prstGeom>
          <a:solidFill>
            <a:srgbClr val="168A75"/>
          </a:solidFill>
          <a:ln>
            <a:solidFill>
              <a:srgbClr val="168A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3227832"/>
            <a:ext cx="4498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Load organizer CSV + labels JSON to score challenge data.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50208"/>
            <a:ext cx="64008" cy="64008"/>
          </a:xfrm>
          <a:prstGeom prst="roundRect">
            <a:avLst>
              <a:gd name="adj" fmla="val 6000"/>
            </a:avLst>
          </a:prstGeom>
          <a:solidFill>
            <a:srgbClr val="168A75"/>
          </a:solidFill>
          <a:ln>
            <a:solidFill>
              <a:srgbClr val="168A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886200"/>
            <a:ext cx="44988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Tune on validation data; preserve timestamp order.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654296"/>
            <a:ext cx="64008" cy="64008"/>
          </a:xfrm>
          <a:prstGeom prst="roundRect">
            <a:avLst>
              <a:gd name="adj" fmla="val 6000"/>
            </a:avLst>
          </a:prstGeom>
          <a:solidFill>
            <a:srgbClr val="168A75"/>
          </a:solidFill>
          <a:ln>
            <a:solidFill>
              <a:srgbClr val="168A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4590288"/>
            <a:ext cx="4498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Record challenge metrics only after the official evaluation.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5330952"/>
            <a:ext cx="5065776" cy="393192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F9E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5449824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LIMIT: Organizer challenge subset is not yet available.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5943600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718079"/>
                </a:solidFill>
                <a:latin typeface="Aptos"/>
              </a:rPr>
              <a:t>Team: fill in team details on slide 1; use only measured results in any final claims.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Utkrishta 2026 Challenge 2</dc:title>
  <dc:subject>10-slide adaptive time-series anomaly detection project presentation</dc:subject>
  <dc:creator>Utkrishta 2026 participant team</dc:creator>
  <cp:keywords>Sentinel, time series, anomaly detection, NAB, sliding-window adaptive threshold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